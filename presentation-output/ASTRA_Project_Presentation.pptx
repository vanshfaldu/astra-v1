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06bc63cb44677" /><Relationship Type="http://schemas.openxmlformats.org/officeDocument/2006/relationships/extended-properties" Target="/docProps/app.xml" Id="R8aed4d29230b4716" /><Relationship Type="http://schemas.openxmlformats.org/officeDocument/2006/relationships/officeDocument" Target="/ppt/presentation.xml" Id="R49b00439cf0d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0ab60ae1a458a"/>
  </p:sldMasterIdLst>
  <p:notesMasterIdLst>
    <p:notesMasterId xmlns:r="http://schemas.openxmlformats.org/officeDocument/2006/relationships" r:id="Re9f53d6c51ab4da9"/>
  </p:notesMasterIdLst>
  <p:sldIdLst>
    <p:sldId xmlns:r="http://schemas.openxmlformats.org/officeDocument/2006/relationships" id="256" r:id="Ra370a4c4e6734832"/>
    <p:sldId xmlns:r="http://schemas.openxmlformats.org/officeDocument/2006/relationships" id="257" r:id="R142bc3ba925b4ce7"/>
    <p:sldId xmlns:r="http://schemas.openxmlformats.org/officeDocument/2006/relationships" id="258" r:id="R8c81c8ff8be84fe4"/>
    <p:sldId xmlns:r="http://schemas.openxmlformats.org/officeDocument/2006/relationships" id="259" r:id="R068e2ff0693d4332"/>
    <p:sldId xmlns:r="http://schemas.openxmlformats.org/officeDocument/2006/relationships" id="260" r:id="R9e281632705f4f56"/>
    <p:sldId xmlns:r="http://schemas.openxmlformats.org/officeDocument/2006/relationships" id="261" r:id="R3a6f677483d04125"/>
    <p:sldId xmlns:r="http://schemas.openxmlformats.org/officeDocument/2006/relationships" id="262" r:id="Rd53a8c3930f9461b"/>
    <p:sldId xmlns:r="http://schemas.openxmlformats.org/officeDocument/2006/relationships" id="263" r:id="R0bca4a7d9ba545da"/>
    <p:sldId xmlns:r="http://schemas.openxmlformats.org/officeDocument/2006/relationships" id="264" r:id="R1447fb75f882495c"/>
    <p:sldId xmlns:r="http://schemas.openxmlformats.org/officeDocument/2006/relationships" id="265" r:id="R8c5a767e1228423b"/>
    <p:sldId xmlns:r="http://schemas.openxmlformats.org/officeDocument/2006/relationships" id="266" r:id="R0c58352a3cac4d96"/>
    <p:sldId xmlns:r="http://schemas.openxmlformats.org/officeDocument/2006/relationships" id="267" r:id="R518da8e6e0224aef"/>
    <p:sldId xmlns:r="http://schemas.openxmlformats.org/officeDocument/2006/relationships" id="268" r:id="R5819b692640a4def"/>
    <p:sldId xmlns:r="http://schemas.openxmlformats.org/officeDocument/2006/relationships" id="269" r:id="R66d70e53fdc141ca"/>
    <p:sldId xmlns:r="http://schemas.openxmlformats.org/officeDocument/2006/relationships" id="270" r:id="R3a4e4531853f42b7"/>
    <p:sldId xmlns:r="http://schemas.openxmlformats.org/officeDocument/2006/relationships" id="271" r:id="R7b317d5f10194b20"/>
    <p:sldId xmlns:r="http://schemas.openxmlformats.org/officeDocument/2006/relationships" id="272" r:id="R197458be9e13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b102232554f2c" /><Relationship Type="http://schemas.openxmlformats.org/officeDocument/2006/relationships/slideMaster" Target="/ppt/slideMasters/slideMaster1.xml" Id="R42e0ab60ae1a458a" /><Relationship Type="http://schemas.openxmlformats.org/officeDocument/2006/relationships/notesMaster" Target="/ppt/notesMasters/notesMaster1.xml" Id="Re9f53d6c51ab4da9" /><Relationship Type="http://schemas.openxmlformats.org/officeDocument/2006/relationships/presProps" Target="/ppt/presProps.xml" Id="R043ed116bc2b4694" /><Relationship Type="http://schemas.openxmlformats.org/officeDocument/2006/relationships/tableStyles" Target="/ppt/tableStyles.xml" Id="R5c22ba5b07684c82" /><Relationship Type="http://schemas.openxmlformats.org/officeDocument/2006/relationships/slide" Target="/ppt/slides/slide1.xml" Id="Ra370a4c4e6734832" /><Relationship Type="http://schemas.openxmlformats.org/officeDocument/2006/relationships/slide" Target="/ppt/slides/slide2.xml" Id="R142bc3ba925b4ce7" /><Relationship Type="http://schemas.openxmlformats.org/officeDocument/2006/relationships/slide" Target="/ppt/slides/slide3.xml" Id="R8c81c8ff8be84fe4" /><Relationship Type="http://schemas.openxmlformats.org/officeDocument/2006/relationships/slide" Target="/ppt/slides/slide4.xml" Id="R068e2ff0693d4332" /><Relationship Type="http://schemas.openxmlformats.org/officeDocument/2006/relationships/slide" Target="/ppt/slides/slide5.xml" Id="R9e281632705f4f56" /><Relationship Type="http://schemas.openxmlformats.org/officeDocument/2006/relationships/slide" Target="/ppt/slides/slide6.xml" Id="R3a6f677483d04125" /><Relationship Type="http://schemas.openxmlformats.org/officeDocument/2006/relationships/slide" Target="/ppt/slides/slide7.xml" Id="Rd53a8c3930f9461b" /><Relationship Type="http://schemas.openxmlformats.org/officeDocument/2006/relationships/slide" Target="/ppt/slides/slide8.xml" Id="R0bca4a7d9ba545da" /><Relationship Type="http://schemas.openxmlformats.org/officeDocument/2006/relationships/slide" Target="/ppt/slides/slide9.xml" Id="R1447fb75f882495c" /><Relationship Type="http://schemas.openxmlformats.org/officeDocument/2006/relationships/slide" Target="/ppt/slides/slide10.xml" Id="R8c5a767e1228423b" /><Relationship Type="http://schemas.openxmlformats.org/officeDocument/2006/relationships/slide" Target="/ppt/slides/slide11.xml" Id="R0c58352a3cac4d96" /><Relationship Type="http://schemas.openxmlformats.org/officeDocument/2006/relationships/slide" Target="/ppt/slides/slide12.xml" Id="R518da8e6e0224aef" /><Relationship Type="http://schemas.openxmlformats.org/officeDocument/2006/relationships/slide" Target="/ppt/slides/slide13.xml" Id="R5819b692640a4def" /><Relationship Type="http://schemas.openxmlformats.org/officeDocument/2006/relationships/slide" Target="/ppt/slides/slide14.xml" Id="R66d70e53fdc141ca" /><Relationship Type="http://schemas.openxmlformats.org/officeDocument/2006/relationships/slide" Target="/ppt/slides/slide15.xml" Id="R3a4e4531853f42b7" /><Relationship Type="http://schemas.openxmlformats.org/officeDocument/2006/relationships/slide" Target="/ppt/slides/slide16.xml" Id="R7b317d5f10194b20" /><Relationship Type="http://schemas.openxmlformats.org/officeDocument/2006/relationships/slide" Target="/ppt/slides/slide17.xml" Id="R197458be9e13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e13e654d43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82e98fcde4c6b" /><Relationship Type="http://schemas.openxmlformats.org/officeDocument/2006/relationships/notesMaster" Target="/ppt/notesMasters/notesMaster1.xml" Id="Rc926557d9efc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b5301b495465e" /><Relationship Type="http://schemas.openxmlformats.org/officeDocument/2006/relationships/notesMaster" Target="/ppt/notesMasters/notesMaster1.xml" Id="R43a11c42be6d45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b1cbcb64d6448a" /><Relationship Type="http://schemas.openxmlformats.org/officeDocument/2006/relationships/notesMaster" Target="/ppt/notesMasters/notesMaster1.xml" Id="R131b6e7dc1dd4a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a1622db6cf4843" /><Relationship Type="http://schemas.openxmlformats.org/officeDocument/2006/relationships/notesMaster" Target="/ppt/notesMasters/notesMaster1.xml" Id="R2003168fbd0042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03a8b2bf8404b" /><Relationship Type="http://schemas.openxmlformats.org/officeDocument/2006/relationships/notesMaster" Target="/ppt/notesMasters/notesMaster1.xml" Id="Rd2b3641b8c63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f3a9d111cb4cbf" /><Relationship Type="http://schemas.openxmlformats.org/officeDocument/2006/relationships/notesMaster" Target="/ppt/notesMasters/notesMaster1.xml" Id="R0ec1b0b1be1044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6ca9789c44ace" /><Relationship Type="http://schemas.openxmlformats.org/officeDocument/2006/relationships/notesMaster" Target="/ppt/notesMasters/notesMaster1.xml" Id="R70db25d3dc1240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ca964634664eb1" /><Relationship Type="http://schemas.openxmlformats.org/officeDocument/2006/relationships/notesMaster" Target="/ppt/notesMasters/notesMaster1.xml" Id="R080ec501c6fb48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b137d275f34a84" /><Relationship Type="http://schemas.openxmlformats.org/officeDocument/2006/relationships/notesMaster" Target="/ppt/notesMasters/notesMaster1.xml" Id="R1f4ed9ee72a744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9244823f104fc4" /><Relationship Type="http://schemas.openxmlformats.org/officeDocument/2006/relationships/notesMaster" Target="/ppt/notesMasters/notesMaster1.xml" Id="R25277fdd982346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c41b96d13b439f" /><Relationship Type="http://schemas.openxmlformats.org/officeDocument/2006/relationships/notesMaster" Target="/ppt/notesMasters/notesMaster1.xml" Id="R2d6300cfa6eb49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4a8549265d4aba" /><Relationship Type="http://schemas.openxmlformats.org/officeDocument/2006/relationships/notesMaster" Target="/ppt/notesMasters/notesMaster1.xml" Id="R0d62a7289b064e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b27f42e6e74c96" /><Relationship Type="http://schemas.openxmlformats.org/officeDocument/2006/relationships/notesMaster" Target="/ppt/notesMasters/notesMaster1.xml" Id="Rc2fe883145dd40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c24a97265e4fb3" /><Relationship Type="http://schemas.openxmlformats.org/officeDocument/2006/relationships/notesMaster" Target="/ppt/notesMasters/notesMaster1.xml" Id="R0e2e1dfb23de44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1c017ae80644c5" /><Relationship Type="http://schemas.openxmlformats.org/officeDocument/2006/relationships/notesMaster" Target="/ppt/notesMasters/notesMaster1.xml" Id="Re48812a7de7642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db25a390964378" /><Relationship Type="http://schemas.openxmlformats.org/officeDocument/2006/relationships/notesMaster" Target="/ppt/notesMasters/notesMaster1.xml" Id="R22f9a649b32045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6c8831d8994ff3" /><Relationship Type="http://schemas.openxmlformats.org/officeDocument/2006/relationships/notesMaster" Target="/ppt/notesMasters/notesMaster1.xml" Id="Raac003252ecf4b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ASTRA analyzes Python structure to identify maintainability concerns. Add presenter names before submission. The included model is an educational starter.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code smell is a maintainability concern rather than proof of a bug. Source: analyzer.py and docs/PROJECT_REPORT.md.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each objective using a live feature. The tool reads and parses source without executing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supplies tokenize and ast.parse. ASTRA implements visitors, rules, learning and reporting. A fix-code button was discussed but has not been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Lexical analysis uses tokenize. Syntax analysis uses ast.parse. Local binding checks are lexical and do not implement a complete semantic analyzer. Source: server.py, analyzer.py.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sequence without claiming a custom lexer or parser. Source: analyzer.py.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is expressed as editable text. AST ignores formatting and encodes actual constructs. String contents containing keywords do not become branches.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implementation compares exact function AST bodies of at least three statements. Large class counts direct methods. Unused-local checks are lexical. Source: analyzer.py.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 includes comments and blank lines within the source span. Complexity starts at one. Nested function and class bodies are measured independently. Source: analyzer.py metrics().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target is binary review warranted, not specific smell type. Leaf proportions are not calibrated confidence. Sources: ml.py, data/STARTER_MODEL.md.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assistant-authored and assistant-labeled functions. Labels reflect design judgments attached before extraction. Related patterns occur across modules. This is not independent human annotation. Sources: prepare_starter_model.py, data/STARTER_MODEL.md.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values from data/starter_evaluation.json. All three methods get four true negatives and four true positives on eight examples. This small designed corpus provides no evidence of general accuracy or ML superiority.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short tour has 10 steps. The full walkthrough covers 23 steps. Research controls remain collapsed. Hover help focuses on unfamiliar concepts. Sources: web/tutorial.js, simplify.js, feature-help.js.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supplied by the user in this conversation: codex-clipboard-08ae2984-13a8-4290-ad8e-27ff8a2486ed.png. It depicts an earlier tutorial layout, not the current final UI. Later code added compact placement and a narrow-screen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current test suite before citing the passing count. Previous verified results were 18 Python tests plus JS syntax and positioning checks. Sources: tests/, web/ and previous run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proposed fix-code feature as implemented. Real-world evaluation needs independently reviewed Python data. Source: docs/PROJECT_REPORT.md and the current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Git repository or remote is configured in the project workspace. The user confirmed no repository exists yet. Add the real GitHub URL before submission. Localhost works only while server.py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e357f0c644d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1c47d3c4b4e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f2045ad4d4e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b5dbe9d624a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957f0cbb246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9b1882c2e40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FB41FB-FCAB-4165-B4B6-4375CCA8F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D817A3-C03F-45C0-BD14-7C3C8DD556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38CCD3-3CFF-40EC-9464-64C29A6319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EC9F69-3EBB-497A-9DCD-FA8B988CA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66AEA7-3E6F-463C-A119-33098CA25B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AEEF7B-93A1-4C1F-951A-31F67C2B61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52B062-3892-4D85-8378-E468A587D3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344298-196C-4263-8438-F31B5155C9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2A2EED-1A34-4DA6-BC70-BD19012DD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6BE3A2-ADD0-4E2F-B996-9837F2026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363db4e0148f3" /><Relationship Type="http://schemas.openxmlformats.org/officeDocument/2006/relationships/slideLayout" Target="/ppt/slideLayouts/slideLayout1.xml" Id="R8bdaa125a05c4f16" /><Relationship Type="http://schemas.openxmlformats.org/officeDocument/2006/relationships/slideLayout" Target="/ppt/slideLayouts/slideLayout2.xml" Id="R59f651dd1a0c4e18" /><Relationship Type="http://schemas.openxmlformats.org/officeDocument/2006/relationships/slideLayout" Target="/ppt/slideLayouts/slideLayout3.xml" Id="R0a57af929db94e14" /><Relationship Type="http://schemas.openxmlformats.org/officeDocument/2006/relationships/slideLayout" Target="/ppt/slideLayouts/slideLayout4.xml" Id="R4ced24c7b2d24e32" /><Relationship Type="http://schemas.openxmlformats.org/officeDocument/2006/relationships/slideLayout" Target="/ppt/slideLayouts/slideLayout5.xml" Id="Re12adb921f614c18" /><Relationship Type="http://schemas.openxmlformats.org/officeDocument/2006/relationships/slideLayout" Target="/ppt/slideLayouts/slideLayout6.xml" Id="R80cf7fa81081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daa125a05c4f16"/>
    <p:sldLayoutId xmlns:r="http://schemas.openxmlformats.org/officeDocument/2006/relationships" id="2147483650" r:id="R59f651dd1a0c4e18"/>
    <p:sldLayoutId xmlns:r="http://schemas.openxmlformats.org/officeDocument/2006/relationships" id="2147483651" r:id="R0a57af929db94e14"/>
    <p:sldLayoutId xmlns:r="http://schemas.openxmlformats.org/officeDocument/2006/relationships" id="2147483652" r:id="R4ced24c7b2d24e32"/>
    <p:sldLayoutId xmlns:r="http://schemas.openxmlformats.org/officeDocument/2006/relationships" id="2147483653" r:id="Re12adb921f614c18"/>
    <p:sldLayoutId xmlns:r="http://schemas.openxmlformats.org/officeDocument/2006/relationships" id="2147483654" r:id="R80cf7fa81081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c05bf67514aac" /><Relationship Type="http://schemas.openxmlformats.org/officeDocument/2006/relationships/notesSlide" Target="/ppt/notesSlides/notesSlide1.xml" Id="Rbf8fc8d6ab7b4c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1e42ca73943ed" /><Relationship Type="http://schemas.openxmlformats.org/officeDocument/2006/relationships/notesSlide" Target="/ppt/notesSlides/notesSlide2.xml" Id="R8bd7af50969548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72858ec8e4196" /><Relationship Type="http://schemas.openxmlformats.org/officeDocument/2006/relationships/notesSlide" Target="/ppt/notesSlides/notesSlide3.xml" Id="R11714c01deff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16cd5e2e34635" /><Relationship Type="http://schemas.openxmlformats.org/officeDocument/2006/relationships/notesSlide" Target="/ppt/notesSlides/notesSlide4.xml" Id="Rd40878e5db604a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6e9b8f5d24626" /><Relationship Type="http://schemas.openxmlformats.org/officeDocument/2006/relationships/notesSlide" Target="/ppt/notesSlides/notesSlide5.xml" Id="R3d81b4c971784a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2c701a3234b3c" /><Relationship Type="http://schemas.openxmlformats.org/officeDocument/2006/relationships/notesSlide" Target="/ppt/notesSlides/notesSlide6.xml" Id="R0d0f39b4af46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cde938cf64a38" /><Relationship Type="http://schemas.openxmlformats.org/officeDocument/2006/relationships/notesSlide" Target="/ppt/notesSlides/notesSlide7.xml" Id="R7cc2789751b84f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85f2e23d64f37" /><Relationship Type="http://schemas.openxmlformats.org/officeDocument/2006/relationships/notesSlide" Target="/ppt/notesSlides/notesSlide8.xml" Id="Rdbc211d5271e4f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634c17c0b4fe0" /><Relationship Type="http://schemas.openxmlformats.org/officeDocument/2006/relationships/notesSlide" Target="/ppt/notesSlides/notesSlide9.xml" Id="R7ae8c7e5fcea42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87d5f68d148b8" /><Relationship Type="http://schemas.openxmlformats.org/officeDocument/2006/relationships/notesSlide" Target="/ppt/notesSlides/notesSlide10.xml" Id="R06532f2b189441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9d097a767427c" /><Relationship Type="http://schemas.openxmlformats.org/officeDocument/2006/relationships/notesSlide" Target="/ppt/notesSlides/notesSlide11.xml" Id="R5c4aedf3f74649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3454732f64fa3" /><Relationship Type="http://schemas.openxmlformats.org/officeDocument/2006/relationships/notesSlide" Target="/ppt/notesSlides/notesSlide12.xml" Id="R81e5372a1f1541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75db00ebb4024" /><Relationship Type="http://schemas.openxmlformats.org/officeDocument/2006/relationships/notesSlide" Target="/ppt/notesSlides/notesSlide13.xml" Id="R116b8f9bcb4f44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ab51cce8b47dd" /><Relationship Type="http://schemas.openxmlformats.org/officeDocument/2006/relationships/image" Target="/ppt/media/image.png" Id="R755a40c3aa394f36" /><Relationship Type="http://schemas.openxmlformats.org/officeDocument/2006/relationships/notesSlide" Target="/ppt/notesSlides/notesSlide14.xml" Id="Rc70b56abc1e846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ccc8a80df42d6" /><Relationship Type="http://schemas.openxmlformats.org/officeDocument/2006/relationships/notesSlide" Target="/ppt/notesSlides/notesSlide15.xml" Id="R991c4bbdb9dc47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1bfa7d0034779" /><Relationship Type="http://schemas.openxmlformats.org/officeDocument/2006/relationships/notesSlide" Target="/ppt/notesSlides/notesSlide16.xml" Id="R3398d2b7a7b447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22bf2fcb34869" /><Relationship Type="http://schemas.openxmlformats.org/officeDocument/2006/relationships/notesSlide" Target="/ppt/notesSlides/notesSlide17.xml" Id="Rd7740364fb6244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6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E5F53-1ABE-487D-952D-C859EFA2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EB51D-3184-429D-806B-C5536450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F573C-ED85-471B-99A0-F2B0777D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D1321-4C70-42AD-A46D-F841CAA9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C5EFA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C5EFA2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C5EFA2"/>
                </a:solidFill>
                <a:latin typeface="Arial"/>
                <a:ea typeface="Arial"/>
                <a:cs typeface="Arial"/>
              </a:rPr>
              <a:t>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65ACB-3B80-41E7-A94A-B4266FA0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AI-assisted code smell detection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using Abstract Syntax 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7BAFE-BEFA-499A-9550-3D4B449B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0CA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0CA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0CAD5"/>
                </a:solidFill>
                <a:latin typeface="Arial"/>
                <a:ea typeface="Arial"/>
                <a:cs typeface="Arial"/>
              </a:rPr>
              <a:t>Compiler Design 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A1565-DE22-4C0A-8D31-F8EF4F2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0CA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0CA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0CAD5"/>
                </a:solidFill>
                <a:latin typeface="Arial"/>
                <a:ea typeface="Arial"/>
                <a:cs typeface="Arial"/>
              </a:rPr>
              <a:t>Presenter / team: [add your name(s)]</a:t>
            </a:r>
          </a:p>
        </p:txBody>
      </p:sp>
    </p:spTree>
    <p:extLst>
      <p:ext uri="{BB962C8B-B14F-4D97-AF65-F5344CB8AC3E}">
        <p14:creationId xmlns:p14="http://schemas.microsoft.com/office/powerpoint/2010/main" val="315413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C4653-53CD-44F6-80DE-F55D7E52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FBFF0-6140-4262-B05C-4C7D1A4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03111-971A-4B5F-B40C-78B210F6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8CF44-CE35-4771-9481-DADAD26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Correct syntax does not guarantee maintainable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5E93E-AACD-4C61-8FBA-D0448672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Long functions and deeply nested decisions make changes harder.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D5FEA-37E7-4ABE-8D32-3DBB84F0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Manual review becomes inconsistent as code grows.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20E4F-CFB6-41DB-A805-486AAB1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Developers need findings they can trace to source evidence.</a:t>
            </a:r>
          </a:p>
        </p:txBody>
      </p:sp>
    </p:spTree>
    <p:extLst>
      <p:ext uri="{BB962C8B-B14F-4D97-AF65-F5344CB8AC3E}">
        <p14:creationId xmlns:p14="http://schemas.microsoft.com/office/powerpoint/2010/main" val="606271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71BE3-A1E9-4DE6-A9A0-AC5B262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AEE5-505F-4BEE-927E-0E294BE8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C3D73-5329-4D40-AAFF-D02A98F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E2C6F-32A4-43E7-A820-89FF4FAC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Extract structural measurements from Python 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D64D0-0FE2-4750-A18C-EEE52C25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Identify selected code smells with explainable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6774B-2967-4D68-9FEE-96C673B7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Add a trainable function-review classifier.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F8DB8-3804-4B64-A47C-D4696853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Present source locations, evidence and improvement suggestions.</a:t>
            </a:r>
          </a:p>
        </p:txBody>
      </p:sp>
    </p:spTree>
    <p:extLst>
      <p:ext uri="{BB962C8B-B14F-4D97-AF65-F5344CB8AC3E}">
        <p14:creationId xmlns:p14="http://schemas.microsoft.com/office/powerpoint/2010/main" val="737772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2967C-A3E1-459E-A66A-BE5FACC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FCE2F-A059-4B2E-B806-B0854C4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2CA80-1D55-43A4-88CE-F67B3091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F4032-4712-4282-80A5-CFFE84C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9ACFF-CBE2-47E4-8038-20620824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Python source analysis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Single-file inspection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AST metrics and rule findings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Educational pretrained classifier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Interactive reports and tutorials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784FD-0D39-4D5A-AC31-D85DF857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Outside the current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B5F21-26C0-47AA-A04A-05075938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Machine-code generation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Complete type checking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Interprocedural dataflow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Automatic code rewriting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Real-world accuracy claims</a:t>
            </a:r>
          </a:p>
        </p:txBody>
      </p:sp>
    </p:spTree>
    <p:extLst>
      <p:ext uri="{BB962C8B-B14F-4D97-AF65-F5344CB8AC3E}">
        <p14:creationId xmlns:p14="http://schemas.microsoft.com/office/powerpoint/2010/main" val="645541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D1318-B769-43CC-A9EE-6DDBEA0B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Compiler Design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EA2A7-E64E-49B6-81F4-5D57ED85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71DA1-A02A-4686-B2D1-270369B8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DABAF-9820-41F9-B815-9AB093CB6ACA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429500"/>
              </a:tblGrid>
              <a:tr h="674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Compiler stage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ASTRA implementation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Lexical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Tokens with values and source locations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Syntax analysis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Python parser builds an AST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Scope inspection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Local assignments and lexical 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Structural representation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Visitors extract function metrics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Static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Rules produce source-mapped diagnostics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599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7DDF6-C14B-408E-9A61-A2742C32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Analysis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3F212-91AE-44A7-A8FB-C85EDF3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D39A6-150B-4516-9691-6162F0E8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AD2F3-F163-4166-A811-6C5767CA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1   Enter source or upload a Python file.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3673E-4EA1-4392-BE7F-7DEDF517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2   Tokenize and parse the source into an 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EB550-34CA-4B0B-BDC9-6D90BC73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3   Traverse each function scope and extract measurements.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615B2-73F7-40EE-B8A3-32538318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4   Apply rules and obtain optional ML predictions.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07C86-169D-45B5-A6C5-7974D83F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5   Inspect findings and export the report.</a:t>
            </a:r>
          </a:p>
        </p:txBody>
      </p:sp>
    </p:spTree>
    <p:extLst>
      <p:ext uri="{BB962C8B-B14F-4D97-AF65-F5344CB8AC3E}">
        <p14:creationId xmlns:p14="http://schemas.microsoft.com/office/powerpoint/2010/main" val="660523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F82E2-ED6B-4D6A-94A1-692F5365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AST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74F2C-5C69-423E-A423-767776F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EBA2A-8269-48F4-91E7-AB88804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8A83C-FAB6-42DF-BA0D-21D310A6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Python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EEEF4-1C42-473A-B414-420134AB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0958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def total(items):</a:t>
            </a:r>
          </a:p>
          <a:p xmlns:a="http://schemas.openxmlformats.org/drawingml/2006/main">
            <a:pPr>
              <a:defRPr sz="23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    amount = sum(items)</a:t>
            </a:r>
          </a:p>
          <a:p xmlns:a="http://schemas.openxmlformats.org/drawingml/2006/main">
            <a:pPr>
              <a:defRPr sz="23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    return amount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6C0E0-F66E-444E-AA39-B8301864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Simplified structural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9D89A-DFF5-4048-8E5C-52A492C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95550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FunctionDef: total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    arguments: items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    Assign: amount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        Call: sum(items)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    Return: amount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39F11-72D4-437D-B2AD-A6B18C45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Visitors measure structure instead of searching for words in raw text.</a:t>
            </a:r>
          </a:p>
        </p:txBody>
      </p:sp>
    </p:spTree>
    <p:extLst>
      <p:ext uri="{BB962C8B-B14F-4D97-AF65-F5344CB8AC3E}">
        <p14:creationId xmlns:p14="http://schemas.microsoft.com/office/powerpoint/2010/main" val="1744350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9D986-A386-47CB-A1D3-6BC8348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Code smells and supplementary hints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356D-F05A-4454-B73B-59D3D7B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5365F-C432-44F6-A687-276B309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C9B9F-939B-44EE-B391-A48DC56068C1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67500"/>
              </a:tblGrid>
              <a:tr h="59191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Finding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analyzer examines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Long method / parameter list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Source span and number of inputs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Deep nesting / high complexity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Structured depth and decision counts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Large 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Number of direct methods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Duplicate implementation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Matching AST function bodies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Unused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Assigned names without detected lexical 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Magic-number hint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Selected numeric literals in expressions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40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9678-3CD1-454E-9B8A-9D41AE3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Function measurements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43159-CE97-4999-AED7-80617199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CD89B-87E3-415D-8CBC-DC29EB7B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2C3F5-83AE-4EFA-BBAA-535CEFBA3235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</a:tblGrid>
              <a:tr h="674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LOC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Lines spanned by the function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Positional, keyword and variadic inputs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Nesting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Maximum depth of structured statements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Complexity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Supported decisions and boolean alternatives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Additional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Statements, calls, loops and branches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72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CA925-4022-46AA-8948-7C5784E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Rules and the learned classifier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32E85-34CE-4D05-83F6-5D24385B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16F29-CE47-48A0-AF30-9297F3A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90231-2635-4510-8907-6F948F2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A0756-6D8F-4B94-B399-458D4DC2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Explicit thresholds</a:t>
            </a:r>
          </a:p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Specific smell names</a:t>
            </a:r>
          </a:p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Evidence and suggestions</a:t>
            </a:r>
          </a:p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Adjustable analysis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20357-633B-4B86-9C15-B27E566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Decision-tree classifier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950D3-FC40-4FB8-BE5C-6DC24082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4857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Learns feature splits from labels</a:t>
            </a:r>
          </a:p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Predicts function-review need</a:t>
            </a:r>
          </a:p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Uses Gini impurity</a:t>
            </a:r>
          </a:p>
          <a:p xmlns:a="http://schemas.openxmlformats.org/drawingml/2006/main">
            <a:pPr>
              <a:defRPr sz="225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Depth limited to five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87373-A5C2-448B-9FFE-C2ADA69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The hybrid evaluation uses a fixed combination of structural rules and model output.</a:t>
            </a:r>
          </a:p>
        </p:txBody>
      </p:sp>
    </p:spTree>
    <p:extLst>
      <p:ext uri="{BB962C8B-B14F-4D97-AF65-F5344CB8AC3E}">
        <p14:creationId xmlns:p14="http://schemas.microsoft.com/office/powerpoint/2010/main" val="919594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B2E7A-D1E9-4769-9D8E-6FD3C5F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Starter data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44D91-8057-4B0F-AF59-B27EAEBF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6042F-0EA2-4DCD-AD4E-9742B6C8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2D028-F403-496F-BF73-905A60F1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35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35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0358F-D770-49B1-88E0-A88A16C8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authored Python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9D615-BFA2-4340-916B-E2A62CC6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32 train   /   8 held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5C846-ACB9-43FB-AF3B-7447A4A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4857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Five authored domain modules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Orders, accounts, inventory,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telemetry and scheduling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Binary labels: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0 = acceptable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1 = review warranted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DB196-537F-4CAD-9852-3C7CA38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Educational examples. Human review and independent repositories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20906026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41F38-0B77-413A-8711-235D012A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Evaluation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075CB-775F-41D1-8597-B11424B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C9ADF-0BFB-4A03-ABF7-294C4703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7B33B-12B5-4A24-87E8-19E7D6C93FA9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381250"/>
                <a:gridCol w="2381250"/>
                <a:gridCol w="2381250"/>
              </a:tblGrid>
              <a:tr h="631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202632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Structural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Decision tree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DF2E8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Hybrid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632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9EC8E-083D-49AF-B8FA-CBD4B93B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Test support: 4 acceptable functions and 4 review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58AC9-FF16-4CBE-A446-8C7B96E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These scores describe eight educational examples only.</a:t>
            </a:r>
          </a:p>
          <a:p xmlns:a="http://schemas.openxmlformats.org/drawingml/2006/main">
            <a:pPr>
              <a:defRPr sz="21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They do not establish performance on real-world repositories.</a:t>
            </a:r>
          </a:p>
        </p:txBody>
      </p:sp>
    </p:spTree>
    <p:extLst>
      <p:ext uri="{BB962C8B-B14F-4D97-AF65-F5344CB8AC3E}">
        <p14:creationId xmlns:p14="http://schemas.microsoft.com/office/powerpoint/2010/main" val="18218865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FCA21-D455-4B55-8302-6FDD793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User interface and guided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4CA7F-5CDA-4D74-840F-34D5958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43DB2-2162-4602-8DD0-31B79923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DDF34-8759-4393-9C54-0049C58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Code editor with examples, file upload and syntax diagnostics.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608B2-673E-4445-AF9C-E170FBB5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Findings include evidence, source navigation and suggestions.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33C9-37E6-405B-AD51-0A712C02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Metrics, AST and compiler artifacts support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B6879-2762-4308-880D-B798FBC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Short tutorial, full walkthrough and contextual hover help.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2D639-FC52-4657-8F5D-EA50D36D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Optional research controls keep routine analysis focused.</a:t>
            </a:r>
          </a:p>
        </p:txBody>
      </p:sp>
    </p:spTree>
    <p:extLst>
      <p:ext uri="{BB962C8B-B14F-4D97-AF65-F5344CB8AC3E}">
        <p14:creationId xmlns:p14="http://schemas.microsoft.com/office/powerpoint/2010/main" val="1935792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4D0BB-9CDB-4D2F-9F9D-D840589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Tutorial refinement from user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5992A-54E3-4EA3-9D9D-0B3206C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8CD5F-DDB4-481D-B751-623EED1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0F6A-4F50-47A3-83FA-E0F4C5FBA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a40c3aa394f36"/>
          <a:stretch xmlns:a="http://schemas.openxmlformats.org/drawingml/2006/main"/>
        </p:blipFill>
        <p:spPr>
          <a:xfrm xmlns:a="http://schemas.openxmlformats.org/drawingml/2006/main">
            <a:off x="786913" y="1619250"/>
            <a:ext cx="4665049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2FDD4-E959-41EA-BEF7-E0D1DCDD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Earlier interface screenshot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99FE3-40C7-46F0-B1E9-33F7B5E5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Observed 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4A284-2DCE-41C0-B873-C0F282C3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The popup covered the feature</a:t>
            </a:r>
          </a:p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it was explaining.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64BE3-B166-4CA2-9DAA-32090434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Implemented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7FA21-E492-444D-ADAB-5C1F824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143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Smaller tutorial panel</a:t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Placement based on free space</a:t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Bottom dock on narrow screens</a:t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Shorter introductory tour</a:t>
            </a:r>
          </a:p>
        </p:txBody>
      </p:sp>
    </p:spTree>
    <p:extLst>
      <p:ext uri="{BB962C8B-B14F-4D97-AF65-F5344CB8AC3E}">
        <p14:creationId xmlns:p14="http://schemas.microsoft.com/office/powerpoint/2010/main" val="2064387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8EF9D-A4AE-4070-B793-51C39D7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Validation and project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A5359-A6A7-4329-A0D2-F533A572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ADC92-B383-4F7A-ACA7-8D135338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A2AC9-C2F7-4B8C-84EE-29FA6AC8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Implemented a local Python analysis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24EF3-A603-4212-BB6B-928EEA7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Delivered editable source, reports and reproducible starter training.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5B623-8861-4594-BA0E-D592F98E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Python tests cover scope handling, syntax and HTTP routes.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0A73A-F884-4570-9B09-F7FBD211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Training tests cover validation and group-based partitioning.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8822C-1E66-4AD2-AB34-F15AF74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UI scripts include syntax and tutorial placement checks.</a:t>
            </a:r>
          </a:p>
        </p:txBody>
      </p:sp>
    </p:spTree>
    <p:extLst>
      <p:ext uri="{BB962C8B-B14F-4D97-AF65-F5344CB8AC3E}">
        <p14:creationId xmlns:p14="http://schemas.microsoft.com/office/powerpoint/2010/main" val="2103263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A5A56-5096-4192-AB33-350DFBD4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Limitations and future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6958-C64F-4F65-943B-50FF681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46BFE-5AAB-4DC3-B9B6-F2BF161A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933B9-FF7E-4E23-9898-976EE0C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2E069-9B3F-4A36-9ABC-19530854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Python and one file at a time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Lexical variable-use heuristic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Exact-body duplicate detection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Educational starter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E133D-41F3-4EE6-A6EA-FF067823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Future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C6892-DDB2-4A47-BA0B-031A050F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860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Independent reviewed datasets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Repeated grouped evaluation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Control-flow and def-use analysis</a:t>
            </a:r>
          </a:p>
          <a:p xmlns:a="http://schemas.openxmlformats.org/drawingml/2006/main">
            <a:pPr>
              <a:defRPr sz="217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Assisted refactoring previews</a:t>
            </a:r>
          </a:p>
        </p:txBody>
      </p:sp>
    </p:spTree>
    <p:extLst>
      <p:ext uri="{BB962C8B-B14F-4D97-AF65-F5344CB8AC3E}">
        <p14:creationId xmlns:p14="http://schemas.microsoft.com/office/powerpoint/2010/main" val="3130169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DD5C7-1FE1-4B6A-888E-EBDD438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Demonstration and source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A4AE0-A18D-4982-9407-8B287FF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ASTRA   /   Compiler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61F55-79FE-4BC4-9004-7772F44F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2EF53-55D4-4D00-A287-822EBB9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Live demo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6EEF1-B2F9-4766-9AD9-56D7279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5381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Analyze the smelly example</a:t>
            </a:r>
          </a:p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Expand a finding and jump to source</a:t>
            </a:r>
          </a:p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Inspect metrics and the AST</a:t>
            </a:r>
          </a:p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Compare the clean example</a:t>
            </a:r>
          </a:p>
          <a:p xmlns:a="http://schemas.openxmlformats.org/drawingml/2006/main">
            <a:pPr>
              <a:defRPr sz="2100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Show model evaluation and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8DE70-70B9-496B-9E98-82089B3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Project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7263D-56E9-4002-940A-4E984DD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05075"/>
            <a:ext cx="47148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Local demo:</a:t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http://127.0.0.1:8000/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GitHub repository:</a:t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Pending publication</a:t>
            </a:r>
          </a:p>
          <a:p xmlns:a="http://schemas.openxmlformats.org/drawingml/2006/main">
            <a:pPr>
              <a:defRPr sz="2025" b="0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632"/>
                </a:solidFill>
                <a:latin typeface="Arial"/>
                <a:ea typeface="Arial"/>
                <a:cs typeface="Arial"/>
              </a:rPr>
              <a:t>[insert repository URL]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3DAB5-E5A2-4078-9884-B9C4FF70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6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632"/>
                </a:solidFill>
                <a:latin typeface="Arial"/>
                <a:ea typeface="Arial"/>
                <a:cs typeface="Arial"/>
              </a:rPr>
              <a:t>Thank you. Questions are welcome.</a:t>
            </a:r>
          </a:p>
        </p:txBody>
      </p:sp>
    </p:spTree>
    <p:extLst>
      <p:ext uri="{BB962C8B-B14F-4D97-AF65-F5344CB8AC3E}">
        <p14:creationId xmlns:p14="http://schemas.microsoft.com/office/powerpoint/2010/main" val="157372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2026-10-10T10:41:34.6590000Z</dcterms:created>
  <dcterms:modified xsi:type="dcterms:W3CDTF">2026-10-10T10:41:34.6590000Z</dcterms:modified>
</coreProperties>
</file>